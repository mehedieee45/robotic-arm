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06440"/>
            <a:ext cx="12191695" cy="4572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FB2FF"/>
                </a:solidFill>
                <a:latin typeface="Calibri"/>
              </a:rPr>
              <a:t>EMBEDDED SYSTEMS  —  STM32F746G-DISCOVERY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Touchscreen Control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9ECF1"/>
                </a:solidFill>
                <a:latin typeface="Calibri"/>
              </a:rPr>
              <a:t>A bare-metal touch UI for LED and servo control, built on the STM32F7 HAL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24160" y="4480560"/>
            <a:ext cx="82296" cy="155448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18674" y="5212080"/>
            <a:ext cx="91440" cy="82296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22992" y="5074920"/>
            <a:ext cx="457200" cy="457200"/>
          </a:xfrm>
          <a:prstGeom prst="ellipse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Calibri"/>
              </a:rPr>
              <a:t>STM32CubeIDE  |  HAL Drivers  | 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2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What this firmware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1" sz="1800">
                <a:solidFill>
                  <a:srgbClr val="1A1A1A"/>
                </a:solidFill>
                <a:latin typeface="Calibri"/>
              </a:rPr>
              <a:t>  •  Bare-metal C application</a:t>
            </a:r>
            <a:r>
              <a:rPr b="0" sz="1800">
                <a:solidFill>
                  <a:srgbClr val="1A1A1A"/>
                </a:solidFill>
                <a:latin typeface="Calibri"/>
              </a:rPr>
              <a:t>  for the STM32F746G-Discovery board (Cortex-M7 @ 216 MHz), built with STM32CubeIDE and the STM32F7 HAL/BSP layers.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1" sz="1800">
                <a:solidFill>
                  <a:srgbClr val="1A1A1A"/>
                </a:solidFill>
                <a:latin typeface="Calibri"/>
              </a:rPr>
              <a:t>  •  480×272 capacitive touch LCD</a:t>
            </a:r>
            <a:r>
              <a:rPr b="0" sz="1800">
                <a:solidFill>
                  <a:srgbClr val="1A1A1A"/>
                </a:solidFill>
                <a:latin typeface="Calibri"/>
              </a:rPr>
              <a:t>  driven by LTDC + DMA2D, with an FT5336 touch controller over I2C for finger input.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1" sz="1800">
                <a:solidFill>
                  <a:srgbClr val="1A1A1A"/>
                </a:solidFill>
                <a:latin typeface="Calibri"/>
              </a:rPr>
              <a:t>  •  Single main loop, three pages:</a:t>
            </a:r>
            <a:r>
              <a:rPr b="0" sz="1800">
                <a:solidFill>
                  <a:srgbClr val="1A1A1A"/>
                </a:solidFill>
                <a:latin typeface="Calibri"/>
              </a:rPr>
              <a:t>  a Home menu, an LED control page, and a Servo control page, switched via on-screen touch buttons.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1" sz="1800">
                <a:solidFill>
                  <a:srgbClr val="1A1A1A"/>
                </a:solidFill>
                <a:latin typeface="Calibri"/>
              </a:rPr>
              <a:t>  •  Each page follows the same pattern:</a:t>
            </a:r>
            <a:r>
              <a:rPr b="0" sz="1800">
                <a:solidFill>
                  <a:srgbClr val="1A1A1A"/>
                </a:solidFill>
                <a:latin typeface="Calibri"/>
              </a:rPr>
              <a:t>  Init() sets up state, Process() reads touch input, UpdateState() redraws only what changed — avoiding full-screen flicker.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2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Navigation &amp; shared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PAGE_HOME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CF1"/>
                </a:solidFill>
                <a:latin typeface="Calibri"/>
              </a:rPr>
              <a:t>Landing menu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CF1"/>
                </a:solidFill>
                <a:latin typeface="Calibri"/>
              </a:rPr>
              <a:t>routes to LED / Servo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PAGE_LED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CF1"/>
                </a:solidFill>
                <a:latin typeface="Calibri"/>
              </a:rPr>
              <a:t>led_touch_button.c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CF1"/>
                </a:solidFill>
                <a:latin typeface="Calibri"/>
              </a:rPr>
              <a:t>touch-toggled GPIO outputs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1E5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PAGE_SERVO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4688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CF1"/>
                </a:solidFill>
                <a:latin typeface="Calibri"/>
              </a:rPr>
              <a:t>servo.c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CF1"/>
                </a:solidFill>
                <a:latin typeface="Calibri"/>
              </a:rPr>
              <a:t>manual slider + auto sweep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touch_button.c / .h</a:t>
            </a:r>
            <a:r>
              <a:rPr b="0" sz="1700">
                <a:solidFill>
                  <a:srgbClr val="1A1A1A"/>
                </a:solidFill>
                <a:latin typeface="Calibri"/>
              </a:rPr>
              <a:t>  — shared TS_Button type: drawButton(), isButtonPressed(), and the new getTouchPosition() for continuous drag tracking.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Dirty-flag redraw</a:t>
            </a:r>
            <a:r>
              <a:rPr b="0" sz="1700">
                <a:solidFill>
                  <a:srgbClr val="1A1A1A"/>
                </a:solidFill>
                <a:latin typeface="Calibri"/>
              </a:rPr>
              <a:t>  — each page only repaints elements whose on-screen value actually changed since the last loop tick.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main.c</a:t>
            </a:r>
            <a:r>
              <a:rPr b="0" sz="1700">
                <a:solidFill>
                  <a:srgbClr val="1A1A1A"/>
                </a:solidFill>
                <a:latin typeface="Calibri"/>
              </a:rPr>
              <a:t>  owns the AppPage state machine and dispatches Init/Process/UpdateState for the active page each loop.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2FF"/>
                </a:solidFill>
                <a:latin typeface="Calibr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LED Control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0" sz="1800">
                <a:solidFill>
                  <a:srgbClr val="1A1A1A"/>
                </a:solidFill>
                <a:latin typeface="Calibri"/>
              </a:rPr>
              <a:t>  •  Touch buttons toggle GPIO-driven LEDs on and off.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0" sz="1800">
                <a:solidFill>
                  <a:srgbClr val="1A1A1A"/>
                </a:solidFill>
                <a:latin typeface="Calibri"/>
              </a:rPr>
              <a:t>  •  Uses the same TS_Button + isButtonPressed() abstraction as every other page.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0" sz="1800">
                <a:solidFill>
                  <a:srgbClr val="1A1A1A"/>
                </a:solidFill>
                <a:latin typeface="Calibri"/>
              </a:rPr>
              <a:t>  •  Button state is redrawn only on change, keeping the touch loop responsive.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1488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LED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88036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017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LED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74904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886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LED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2FF"/>
                </a:solidFill>
                <a:latin typeface="Calibri"/>
              </a:rPr>
              <a:t>FEATURE  —  HEADLINE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Servo Control: Manual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Volume-fader style slider</a:t>
            </a:r>
            <a:r>
              <a:rPr b="0" sz="1700">
                <a:solidFill>
                  <a:srgbClr val="1A1A1A"/>
                </a:solidFill>
                <a:latin typeface="Calibri"/>
              </a:rPr>
              <a:t>  replaces the old +10° / –10° tap buttons.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Drag anywhere near the rail</a:t>
            </a:r>
            <a:r>
              <a:rPr b="0" sz="1700">
                <a:solidFill>
                  <a:srgbClr val="1A1A1A"/>
                </a:solidFill>
                <a:latin typeface="Calibri"/>
              </a:rPr>
              <a:t>  and the knob follows your finger continuously — no separate step buttons.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Live angle readout</a:t>
            </a:r>
            <a:r>
              <a:rPr b="0" sz="1700">
                <a:solidFill>
                  <a:srgbClr val="1A1A1A"/>
                </a:solidFill>
                <a:latin typeface="Calibri"/>
              </a:rPr>
              <a:t>  printed inside the knob itself (0–180°).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Colored fill below the knob</a:t>
            </a:r>
            <a:r>
              <a:rPr b="0" sz="1700">
                <a:solidFill>
                  <a:srgbClr val="1A1A1A"/>
                </a:solidFill>
                <a:latin typeface="Calibri"/>
              </a:rPr>
              <a:t>  shows the current level, gray rail above it, matching classic fader UI conventions.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AUTO mode grays it out</a:t>
            </a:r>
            <a:r>
              <a:rPr b="0" sz="1700">
                <a:solidFill>
                  <a:srgbClr val="1A1A1A"/>
                </a:solidFill>
                <a:latin typeface="Calibri"/>
              </a:rPr>
              <a:t>  and sweeps the angle automatically — the slider becomes read-only feedback.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37776" y="1828800"/>
            <a:ext cx="109728" cy="393192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7776" y="4023360"/>
            <a:ext cx="109728" cy="173736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1160" y="3611880"/>
            <a:ext cx="822960" cy="822960"/>
          </a:xfrm>
          <a:prstGeom prst="ellipse">
            <a:avLst/>
          </a:prstGeom>
          <a:solidFill>
            <a:srgbClr val="E9ECF1"/>
          </a:solidFill>
          <a:ln w="31750">
            <a:solidFill>
              <a:srgbClr val="1E5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1A1A1A"/>
                </a:solidFill>
              </a:rPr>
              <a:t>95°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2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Servo control —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TIM2 PWM, channel 1</a:t>
            </a:r>
            <a:r>
              <a:rPr b="0" sz="1700">
                <a:solidFill>
                  <a:srgbClr val="1A1A1A"/>
                </a:solidFill>
                <a:latin typeface="Calibri"/>
              </a:rPr>
              <a:t>  drives the servo; pulse width is linearly mapped from 500–2500 µs onto the 0–180° range.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getTouchPosition(x, y)</a:t>
            </a:r>
            <a:r>
              <a:rPr b="0" sz="1700">
                <a:solidFill>
                  <a:srgbClr val="1A1A1A"/>
                </a:solidFill>
                <a:latin typeface="Calibri"/>
              </a:rPr>
              <a:t>  new helper added to touch_button.c — returns the raw touch point so the slider can track drags, not just discrete taps.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Slider redraw strategy:</a:t>
            </a:r>
            <a:r>
              <a:rPr b="0" sz="1700">
                <a:solidFill>
                  <a:srgbClr val="1A1A1A"/>
                </a:solidFill>
                <a:latin typeface="Calibri"/>
              </a:rPr>
              <a:t>  erase the full slider column → redraw gray rail → redraw colored fill → redraw knob → redraw angle text. Simpler and glitch-free vs. tracking partial dirty rectangles for a value that moves every frame.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AUTO sweep</a:t>
            </a:r>
            <a:r>
              <a:rPr b="0" sz="1700">
                <a:solidFill>
                  <a:srgbClr val="1A1A1A"/>
                </a:solidFill>
                <a:latin typeface="Calibri"/>
              </a:rPr>
              <a:t>  steps the angle by 2° every 20 ms between 0‑80°, reversing direction at each limit.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2FF"/>
                </a:solidFill>
                <a:latin typeface="Calibri"/>
              </a:rPr>
              <a:t>BUILD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Fixing a broken link: missing Reset_Handler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Symptom:</a:t>
            </a:r>
            <a:r>
              <a:rPr b="0" sz="1700">
                <a:solidFill>
                  <a:srgbClr val="1A1A1A"/>
                </a:solidFill>
                <a:latin typeface="Calibri"/>
              </a:rPr>
              <a:t>  linker warning “cannot find entry symbol Reset_Handler; defaulting to 08000000” after an incremental build.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  •  Root cause:</a:t>
            </a:r>
            <a:r>
              <a:rPr b="0" sz="1700">
                <a:solidFill>
                  <a:srgbClr val="1A1A1A"/>
                </a:solidFill>
                <a:latin typeface="Calibri"/>
              </a:rPr>
              <a:t>  Debug/objects.list (STM32CubeIDE's auto-generated linker input list) was stale — it was missing entire folders: Core/Src, Drivers/STM32F7xx_HAL_Driver, and the startup object. The linker “succeeded” while silently omitting almost the whole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881360" cy="1828800"/>
          </a:xfrm>
          <a:prstGeom prst="roundRect">
            <a:avLst>
              <a:gd name="adj" fmla="val 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0080"/>
                </a:solidFill>
                <a:latin typeface="Calibri"/>
              </a:rPr>
              <a:t>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Project → Clean… (select the project, “Start a build immediately”) forces CubeIDE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to regenerate every subdir.mk / objects.list from the current source tree, then fully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recompiles and relinks — a plain incremental build will not repair this on its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2FF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Hardware &amp; toolchain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37744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MCU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737360"/>
            <a:ext cx="8503920" cy="6858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901952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STM32F746NGH6 — Cortex-M7 @ 216 MHz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237744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Display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514600"/>
            <a:ext cx="8503920" cy="6858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679192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4.3" 480×272 RGB565 LCD via LTDC + DMA2D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237744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Touch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291840"/>
            <a:ext cx="8503920" cy="6858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456432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FT5336 capacitive touch controller over I2C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237744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Servo PWM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069080"/>
            <a:ext cx="8503920" cy="6858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4233672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TIM2 channel 1, 500–2500 µs pulse → 0–180°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1091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Toolchain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4846320"/>
            <a:ext cx="8503920" cy="6858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5010912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arm-none-eabi-gcc via STM32CubeIDE, STM32F7 HAL/BSP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2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0" sz="1800">
                <a:solidFill>
                  <a:srgbClr val="1A1A1A"/>
                </a:solidFill>
                <a:latin typeface="Calibri"/>
              </a:rPr>
              <a:t>  •  Add decorative tick marks along the slider rail for closer visual fidelity to the fader reference design.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0" sz="1800">
                <a:solidFill>
                  <a:srgbClr val="1A1A1A"/>
                </a:solidFill>
                <a:latin typeface="Calibri"/>
              </a:rPr>
              <a:t>  •  Persist last servo angle / mode across power cycles (e.g. via EEPROM on the Discovery board).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0" sz="1800">
                <a:solidFill>
                  <a:srgbClr val="1A1A1A"/>
                </a:solidFill>
                <a:latin typeface="Calibri"/>
              </a:rPr>
              <a:t>  •  Extend the page pattern to a new sensor or camera page using the same Init/Process/UpdateState convention.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b="0" sz="1800">
                <a:solidFill>
                  <a:srgbClr val="1A1A1A"/>
                </a:solidFill>
                <a:latin typeface="Calibri"/>
              </a:rPr>
              <a:t>  •  Add on-target verification: flash after each change and confirm touch response and colors on real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E9ECF1"/>
                </a:solidFill>
                <a:latin typeface="Calibri"/>
              </a:rPr>
              <a:t>STM32F746G-Discovery Touch Display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